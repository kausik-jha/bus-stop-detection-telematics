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65" r:id="rId2"/>
    <p:sldId id="256" r:id="rId3"/>
    <p:sldId id="257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59" r:id="rId14"/>
    <p:sldId id="275" r:id="rId15"/>
    <p:sldId id="260" r:id="rId16"/>
    <p:sldId id="276" r:id="rId17"/>
    <p:sldId id="26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710" y="28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815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254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20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133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053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256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28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023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100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865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934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724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6917C9-2796-3819-6E74-66CBC4F78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 stop Prediction Analysis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9726957-CF64-4C67-0C38-A28A0CF53C6E}"/>
              </a:ext>
            </a:extLst>
          </p:cNvPr>
          <p:cNvSpPr/>
          <p:nvPr/>
        </p:nvSpPr>
        <p:spPr>
          <a:xfrm>
            <a:off x="750651" y="2568002"/>
            <a:ext cx="4961106" cy="25681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Bus stop Prediction Analysis for Charge Point</a:t>
            </a:r>
          </a:p>
          <a:p>
            <a:r>
              <a:rPr lang="en-IN" dirty="0"/>
              <a:t>Kausik</a:t>
            </a:r>
          </a:p>
          <a:p>
            <a:r>
              <a:rPr lang="en-IN" dirty="0"/>
              <a:t>12 Dec 2025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0191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919" y="220345"/>
            <a:ext cx="10515600" cy="1325563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919" y="1468877"/>
            <a:ext cx="10515600" cy="4724366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Need accurate bus stop identification from telematics data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Static maps are outdated; actual stops differ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Energy modeling requires precise stop–start behavior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dataset of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24,367 stop events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for buses on a single route. A “stop” is defined as any point where the bus speed dropped below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0.5 m/s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Columns in the dataset</a:t>
            </a: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lat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Latitude in WGS84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lon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Longitude in WGS84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start: Stop start time in milliseconds (UTC)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duration: Stop duration in seconds</a:t>
            </a:r>
          </a:p>
          <a:p>
            <a:pPr lvl="1"/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Using only these stop events, we want to: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Detect all physical bus stops along the route from GPS stop data.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Estimate a robust location for each stop (to be used on maps and in models).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Characterize each cluster of stops, especially: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how tight/loose is the cluster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Duration profile (mean, variability, Coefficient of Variation)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Classify each location into: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Regular Bus Stop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Terminus / major stop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Traffic / congestion zone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04F7B-3079-465C-BE81-F95519202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84940-8A5C-B461-2545-F107A9D6B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60" y="86621"/>
            <a:ext cx="10515600" cy="1325563"/>
          </a:xfrm>
        </p:spPr>
        <p:txBody>
          <a:bodyPr/>
          <a:lstStyle/>
          <a:p>
            <a:r>
              <a:rPr lang="en-IN" dirty="0"/>
              <a:t>Approach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AE0C245-397A-A8CC-5797-A71B46A163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9620" y="1123259"/>
            <a:ext cx="877676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loading and preprocessing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Exploratory analysis of stop duration and spatial pattern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Filtering out “micro-stops” (too short to be bus stops, may be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signal,curve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etc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Trip segmentation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Tuning DBSCAN parameters with a k-distance plot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DBSCAN clustering using the Haversine metric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 of clusters vs noise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Cluster-level statistics and classification (Bus stop / Terminus / Traffic)</a:t>
            </a:r>
          </a:p>
        </p:txBody>
      </p:sp>
    </p:spTree>
    <p:extLst>
      <p:ext uri="{BB962C8B-B14F-4D97-AF65-F5344CB8AC3E}">
        <p14:creationId xmlns:p14="http://schemas.microsoft.com/office/powerpoint/2010/main" val="1364607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28DB3-FB55-EA3D-86B7-82DDF276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2ED56-FCFD-F2C2-A095-E2EFA1FB8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185681"/>
            <a:ext cx="10515600" cy="1325563"/>
          </a:xfrm>
        </p:spPr>
        <p:txBody>
          <a:bodyPr/>
          <a:lstStyle/>
          <a:p>
            <a:r>
              <a:rPr lang="en-IN" dirty="0"/>
              <a:t>Data Loading and Preprocessing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7D6689-7773-5D23-BE6D-EC20F7F58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952" y="1520568"/>
            <a:ext cx="3704295" cy="2269055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D26333E2-A48C-10D8-3A16-F224A796E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" y="1184509"/>
            <a:ext cx="641604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Converts milliseconds to a </a:t>
            </a:r>
            <a:r>
              <a:rPr lang="en-US" altLang="en-US" b="1" dirty="0" err="1">
                <a:latin typeface="Arial" panose="020B0604020202020204" pitchFamily="34" charset="0"/>
              </a:rPr>
              <a:t>timezone</a:t>
            </a:r>
            <a:r>
              <a:rPr lang="en-US" altLang="en-US" b="1" dirty="0">
                <a:latin typeface="Arial" panose="020B0604020202020204" pitchFamily="34" charset="0"/>
              </a:rPr>
              <a:t>-aware datetime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Converts UTC to </a:t>
            </a:r>
            <a:r>
              <a:rPr lang="en-US" altLang="en-US" b="1" dirty="0">
                <a:latin typeface="Arial" panose="020B0604020202020204" pitchFamily="34" charset="0"/>
              </a:rPr>
              <a:t>Europe/Amsterdam</a:t>
            </a:r>
            <a:r>
              <a:rPr lang="en-US" altLang="en-US" dirty="0">
                <a:latin typeface="Arial" panose="020B0604020202020204" pitchFamily="34" charset="0"/>
              </a:rPr>
              <a:t> time (relevant to the city/route).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Sorts stops chronologically.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Adds useful temporal fields: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Hour of day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Day of week (ordered Monday → Sunday)</a:t>
            </a:r>
          </a:p>
        </p:txBody>
      </p:sp>
    </p:spTree>
    <p:extLst>
      <p:ext uri="{BB962C8B-B14F-4D97-AF65-F5344CB8AC3E}">
        <p14:creationId xmlns:p14="http://schemas.microsoft.com/office/powerpoint/2010/main" val="880177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58361-F199-33E6-1EEC-2959B1D95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7F037-C617-50A2-BF8C-4712D1AAF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185681"/>
            <a:ext cx="10515600" cy="1325563"/>
          </a:xfrm>
        </p:spPr>
        <p:txBody>
          <a:bodyPr/>
          <a:lstStyle/>
          <a:p>
            <a:r>
              <a:rPr lang="en-IN" dirty="0"/>
              <a:t>Exploratory Analysis-Duration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3B0366-40CB-EC5A-0C04-E7614C766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781" y="1085459"/>
            <a:ext cx="3238500" cy="20082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66C68E-BABB-DE87-2B7C-A801FED78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581" y="3121012"/>
            <a:ext cx="3520439" cy="27311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0D202D5-CB6A-6C91-EE6F-D9AE56500F5B}"/>
              </a:ext>
            </a:extLst>
          </p:cNvPr>
          <p:cNvSpPr txBox="1"/>
          <p:nvPr/>
        </p:nvSpPr>
        <p:spPr>
          <a:xfrm>
            <a:off x="670560" y="1655042"/>
            <a:ext cx="633222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 the range of stop durations.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the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99th percentile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an upper cap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p99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to avoid rare extreme stops from skewing the histogram.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Visually understand typical stop durations (most bus stops are short; very long durations could be layovers, breakdowns, or anomalies).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From the Histogram it is clear that duration has 2 peaks. To exclude micro-stop, consider </a:t>
            </a:r>
            <a:r>
              <a:rPr lang="en-US" altLang="en-US" b="1" dirty="0">
                <a:latin typeface="Arial" panose="020B0604020202020204" pitchFamily="34" charset="0"/>
              </a:rPr>
              <a:t>below 8 seconds </a:t>
            </a:r>
            <a:r>
              <a:rPr lang="en-US" altLang="en-US" dirty="0">
                <a:latin typeface="Arial" panose="020B0604020202020204" pitchFamily="34" charset="0"/>
              </a:rPr>
              <a:t>as cut-off.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0522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BB24B-1626-A430-74BA-F2606D65C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5011B-C0D3-09F7-F11A-840926038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185681"/>
            <a:ext cx="10515600" cy="1325563"/>
          </a:xfrm>
        </p:spPr>
        <p:txBody>
          <a:bodyPr/>
          <a:lstStyle/>
          <a:p>
            <a:r>
              <a:rPr lang="en-IN" dirty="0"/>
              <a:t>Exploratory Analysis-Duration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C311D9-848C-E6A5-617E-4A56B292C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781" y="1085459"/>
            <a:ext cx="3238500" cy="20082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D49530-19DD-0CD3-FA9A-DF0E14FFE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581" y="3121012"/>
            <a:ext cx="3520439" cy="27311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1D6F78C-15CF-254B-2601-DEAB88E3E18E}"/>
              </a:ext>
            </a:extLst>
          </p:cNvPr>
          <p:cNvSpPr txBox="1"/>
          <p:nvPr/>
        </p:nvSpPr>
        <p:spPr>
          <a:xfrm>
            <a:off x="670560" y="1655042"/>
            <a:ext cx="63322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 the range of stop durations.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the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99th percentile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an upper cap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p99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to avoid rare extreme stops from skewing the histogram.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Visually understand typical stop durations (most bus stops are short; very long durations could be layovers, breakdowns, or anomalies).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From the Histogram it is clear that duration has 2 peaks. To exclude micro-stop, consider</a:t>
            </a:r>
            <a:r>
              <a:rPr lang="en-US" altLang="en-US" b="1" dirty="0">
                <a:latin typeface="Arial" panose="020B0604020202020204" pitchFamily="34" charset="0"/>
              </a:rPr>
              <a:t> 8 seconds </a:t>
            </a:r>
            <a:r>
              <a:rPr lang="en-US" altLang="en-US" dirty="0">
                <a:latin typeface="Arial" panose="020B0604020202020204" pitchFamily="34" charset="0"/>
              </a:rPr>
              <a:t>as cut-off.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205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BD4F9-61B7-25B7-3BB5-D15019240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B5754-AA2D-C92F-2D6C-3859EC4A4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185681"/>
            <a:ext cx="10515600" cy="1325563"/>
          </a:xfrm>
        </p:spPr>
        <p:txBody>
          <a:bodyPr/>
          <a:lstStyle/>
          <a:p>
            <a:r>
              <a:rPr lang="en-IN" dirty="0"/>
              <a:t>Visualization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49B956-0E35-CF12-0A06-204E9B71EFC2}"/>
              </a:ext>
            </a:extLst>
          </p:cNvPr>
          <p:cNvSpPr txBox="1"/>
          <p:nvPr/>
        </p:nvSpPr>
        <p:spPr>
          <a:xfrm>
            <a:off x="595117" y="1600577"/>
            <a:ext cx="63322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 Visually the route between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Latitude:52.2175 and 52.2025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Longitude: 5.75 and 5.80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 points may be detour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Visualize the clusters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665927-D369-D41F-8F17-54A71A2FB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864" y="1013678"/>
            <a:ext cx="5303520" cy="22642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8289524-624D-6E2F-4D78-D5E71129A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3324" y="3423572"/>
            <a:ext cx="5364480" cy="292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160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2EB51-D7AA-2380-35A0-0BB024637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469A4-86DB-4247-7CC8-377B65E27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185681"/>
            <a:ext cx="10515600" cy="1325563"/>
          </a:xfrm>
        </p:spPr>
        <p:txBody>
          <a:bodyPr/>
          <a:lstStyle/>
          <a:p>
            <a:r>
              <a:rPr lang="en-IN" dirty="0"/>
              <a:t>Trip Segmentation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3773CF-6E92-6D6A-048E-8DDAEE780587}"/>
              </a:ext>
            </a:extLst>
          </p:cNvPr>
          <p:cNvSpPr txBox="1"/>
          <p:nvPr/>
        </p:nvSpPr>
        <p:spPr>
          <a:xfrm>
            <a:off x="558883" y="1545164"/>
            <a:ext cx="63322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Computes the time gap between consecutive stops.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If the gap &gt; 30 minutes, it is treated as a </a:t>
            </a:r>
            <a:r>
              <a:rPr lang="en-US" altLang="en-US" b="1" dirty="0">
                <a:latin typeface="Arial" panose="020B0604020202020204" pitchFamily="34" charset="0"/>
              </a:rPr>
              <a:t>new trip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Each stop is assigned a </a:t>
            </a:r>
            <a:r>
              <a:rPr lang="en-US" altLang="en-US" dirty="0" err="1">
                <a:latin typeface="Arial" panose="020B0604020202020204" pitchFamily="34" charset="0"/>
              </a:rPr>
              <a:t>trip_id</a:t>
            </a: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Around 314 trip data available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885258-529C-B809-C367-EF608C8D6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505" y="1866507"/>
            <a:ext cx="4181974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881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83CC0-48C9-502E-712C-E7A5AF860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3017A-ED66-B2A4-0966-FB0B7CF8E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185681"/>
            <a:ext cx="10515600" cy="1325563"/>
          </a:xfrm>
        </p:spPr>
        <p:txBody>
          <a:bodyPr/>
          <a:lstStyle/>
          <a:p>
            <a:r>
              <a:rPr lang="en-IN" dirty="0"/>
              <a:t>DBSCAN Methodology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8529F2-E1BB-00C3-F27E-185D87F8B2D1}"/>
              </a:ext>
            </a:extLst>
          </p:cNvPr>
          <p:cNvSpPr txBox="1"/>
          <p:nvPr/>
        </p:nvSpPr>
        <p:spPr>
          <a:xfrm>
            <a:off x="558883" y="1326385"/>
            <a:ext cx="5392337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NearestNeighbors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with Haversine metric gives distances along the Earth’s surface.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k-distance plot helps visually locate a “knee” or elbow where distances start increasing sharply.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That elbow is used to set eps (neighborhood radius) for DBSCAN.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From the k-distance plot eps~40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mtrs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9926E6-0385-3093-84B1-E828AC265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281" y="1311441"/>
            <a:ext cx="5023939" cy="24337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E34E9C-4927-FBB4-5F4E-6216F75D5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420" y="3906469"/>
            <a:ext cx="4950637" cy="258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166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1B721-50B3-92B0-5706-1E74F2115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6EEE5-494D-4C0F-FD9D-C2FB141CF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185681"/>
            <a:ext cx="10515600" cy="1325563"/>
          </a:xfrm>
        </p:spPr>
        <p:txBody>
          <a:bodyPr/>
          <a:lstStyle/>
          <a:p>
            <a:r>
              <a:rPr lang="en-IN" dirty="0"/>
              <a:t>DBSCAN Methodology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D1E9EA-1AB2-253D-D44A-C9F7D2ED6F25}"/>
              </a:ext>
            </a:extLst>
          </p:cNvPr>
          <p:cNvSpPr txBox="1"/>
          <p:nvPr/>
        </p:nvSpPr>
        <p:spPr>
          <a:xfrm>
            <a:off x="558882" y="1148831"/>
            <a:ext cx="5392337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Hyperparameters :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eps,min_sample,metric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Clusters generated: 16 (including noise)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Cluster -1 = Noise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Cluster &gt;=0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physical stop location 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B86D6B-5D7E-BADF-B78F-5CDDC7B06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340" y="1369340"/>
            <a:ext cx="4165719" cy="2210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D38DF9-91AE-C56C-FB1D-555CA70F2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21" y="2327991"/>
            <a:ext cx="2752090" cy="3037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38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F066B-688D-C802-07F6-C6288C999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12212-F7EC-50E0-EFC8-AA0ECBB58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185681"/>
            <a:ext cx="10515600" cy="1325563"/>
          </a:xfrm>
        </p:spPr>
        <p:txBody>
          <a:bodyPr/>
          <a:lstStyle/>
          <a:p>
            <a:r>
              <a:rPr lang="en-IN" dirty="0"/>
              <a:t>DBSCAN Methodology – Cluster Visualization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4D5B66-E948-5F57-E9A9-45DF3FCFE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777" y="1419804"/>
            <a:ext cx="4722081" cy="30988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C2FD62-3632-F132-58BB-2CF6C7ACD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60" y="1199302"/>
            <a:ext cx="6176217" cy="363130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3A18D33-7F7B-8B6D-1CFF-D4065624CB4A}"/>
              </a:ext>
            </a:extLst>
          </p:cNvPr>
          <p:cNvSpPr txBox="1"/>
          <p:nvPr/>
        </p:nvSpPr>
        <p:spPr>
          <a:xfrm>
            <a:off x="891540" y="4830603"/>
            <a:ext cx="8793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Confirms that cluster centers align along the bus route.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Distinguishes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dense stop locations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(colored clusters)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noise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(gray points).</a:t>
            </a:r>
          </a:p>
        </p:txBody>
      </p:sp>
    </p:spTree>
    <p:extLst>
      <p:ext uri="{BB962C8B-B14F-4D97-AF65-F5344CB8AC3E}">
        <p14:creationId xmlns:p14="http://schemas.microsoft.com/office/powerpoint/2010/main" val="3734059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Cluster Statistics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(1)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512569"/>
            <a:ext cx="5364480" cy="4351338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lat_p5/lon_p5 and lat_p95/lon_p95: 5th and 95th percentile bounds of each cluster in latitude and longitude → robust to outliers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dist_mtr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approximate physical diameter of the cluster between these percentiles → how “spread out” the cluster is.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uration_CV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Coefficient of variation of stop duration.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Low CV → consistent duration → scheduled bus stop.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High CV → variable duration → more like traffic congestion or signals.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1B4B7A-A831-F0DA-6823-4B9B55087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68" y="574357"/>
            <a:ext cx="4738532" cy="11170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DD8875-28C7-F27F-A201-B59C8922D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602" y="1706664"/>
            <a:ext cx="4840263" cy="13315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31E7EB-EEF3-0DD6-DE63-59196FDDB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053497"/>
            <a:ext cx="4789398" cy="7927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F71A47-E890-56C9-C5B6-E1DC5B5E78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1433" y="3846226"/>
            <a:ext cx="4738532" cy="9957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62CD9-293F-F4FF-599C-9038EC5E1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BD697-4459-471F-AC1F-6062BE4BD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Cluster Statistics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(2)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1A63DB-19FB-B53C-5DDB-DB48B5E53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47" y="1397960"/>
            <a:ext cx="7210073" cy="14444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A80D55-0F6C-7AE3-6311-0A175358659C}"/>
              </a:ext>
            </a:extLst>
          </p:cNvPr>
          <p:cNvSpPr txBox="1"/>
          <p:nvPr/>
        </p:nvSpPr>
        <p:spPr>
          <a:xfrm>
            <a:off x="6705600" y="2827388"/>
            <a:ext cx="11277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IN" sz="800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IN" sz="800" dirty="0">
                <a:latin typeface="Arial" panose="020B0604020202020204" pitchFamily="34" charset="0"/>
                <a:cs typeface="Arial" panose="020B0604020202020204" pitchFamily="34" charset="0"/>
              </a:rPr>
              <a:t> 5 rows shown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F4AC747-2E4E-D8F5-A17C-80C341FF3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487" y="1479633"/>
            <a:ext cx="2476846" cy="109552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8120CD7-1A1A-5673-C023-199C8776D5EA}"/>
              </a:ext>
            </a:extLst>
          </p:cNvPr>
          <p:cNvSpPr txBox="1"/>
          <p:nvPr/>
        </p:nvSpPr>
        <p:spPr>
          <a:xfrm>
            <a:off x="419100" y="3291840"/>
            <a:ext cx="93497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Duration variation is not consistent.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patial spread used for type classification.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dist_mtr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&lt; 50 m →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Busstop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50 m ≤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dist_mtr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&lt; 100 m → Terminus (larger area, potentially multiple stopping positions, end-of-line or hub)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dist_mtr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≥ 100 m → Traffic (spread-out region → congestion zone or long traffic corridor)</a:t>
            </a:r>
          </a:p>
        </p:txBody>
      </p:sp>
    </p:spTree>
    <p:extLst>
      <p:ext uri="{BB962C8B-B14F-4D97-AF65-F5344CB8AC3E}">
        <p14:creationId xmlns:p14="http://schemas.microsoft.com/office/powerpoint/2010/main" val="3000757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180" y="63450"/>
            <a:ext cx="10515600" cy="1325563"/>
          </a:xfrm>
        </p:spPr>
        <p:txBody>
          <a:bodyPr/>
          <a:lstStyle/>
          <a:p>
            <a:r>
              <a:rPr dirty="0"/>
              <a:t>Solution 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F5712B-E887-29AD-30FB-89CF59C40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780" y="1416534"/>
            <a:ext cx="10241280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Automatic detection of physical stop locations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Using DBSCAN with Haversine metric over filtered stop points.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Each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cluster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corresponds to a candidate bus stop / stop area.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Robust geographical position per stop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Cluster-level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lat_mean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lon_mean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give a stable center for mapping.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5th–95th percentile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lat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lon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+ Haversine spread give a robust stop “radius”.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Stop behavior characterization</a:t>
            </a:r>
            <a:b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For each cluster, you now have: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Mean stop duration 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duration_mean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Duration variability 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duration_std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Duration_CV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Spatial spread 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dist_mtr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Classification into operational categories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Busstop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tight spatial cluster 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dist_mtr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&lt; 50 m), likely regular stop.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Terminus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moderate spread (50–100 m), representing terminals or larger hubs.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Traffic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large spread (≥100 m), indicative of congested segments or long queues.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Noise rejection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Outlier or infrequent stop events automatically labeled cluster = -1 and excluded from stop inventory.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5B83D-9DF0-BD07-2D65-99BE98EFB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FAD81-6FE8-9885-BFC8-E3973AC08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80" y="63450"/>
            <a:ext cx="10515600" cy="1325563"/>
          </a:xfrm>
        </p:spPr>
        <p:txBody>
          <a:bodyPr/>
          <a:lstStyle/>
          <a:p>
            <a:r>
              <a:rPr lang="en-IN" dirty="0"/>
              <a:t>Business Use Case</a:t>
            </a:r>
            <a:endParaRPr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2C58DD1-BBA3-99EE-E792-8CA68DFDF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" y="1305758"/>
            <a:ext cx="1058418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Energy prediction models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	Each cluster becomes a feature in energy models — Basic statistics about the clusters help to 	know when bus slows down, how long it usually stays, and how consistent that pattern is.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Route planning &amp; operations</a:t>
            </a:r>
            <a:endParaRPr lang="en-US" altLang="en-US" dirty="0"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Identify </a:t>
            </a:r>
            <a:r>
              <a:rPr lang="en-US" altLang="en-US" b="1" dirty="0">
                <a:latin typeface="Arial" panose="020B0604020202020204" pitchFamily="34" charset="0"/>
              </a:rPr>
              <a:t>traffic cluster</a:t>
            </a:r>
            <a:endParaRPr lang="en-US" altLang="en-US" dirty="0"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Validate or update official bus stop locations.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Data-driven map maintenance</a:t>
            </a:r>
            <a:endParaRPr lang="en-US" altLang="en-US" dirty="0"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Over time, this approach can be re-run to detect </a:t>
            </a:r>
            <a:r>
              <a:rPr lang="en-US" altLang="en-US" b="1" dirty="0">
                <a:latin typeface="Arial" panose="020B0604020202020204" pitchFamily="34" charset="0"/>
              </a:rPr>
              <a:t>new stops</a:t>
            </a:r>
            <a:r>
              <a:rPr lang="en-US" altLang="en-US" dirty="0">
                <a:latin typeface="Arial" panose="020B0604020202020204" pitchFamily="34" charset="0"/>
              </a:rPr>
              <a:t> or </a:t>
            </a:r>
            <a:r>
              <a:rPr lang="en-US" altLang="en-US" b="1" dirty="0">
                <a:latin typeface="Arial" panose="020B0604020202020204" pitchFamily="34" charset="0"/>
              </a:rPr>
              <a:t>changes in stop usage</a:t>
            </a:r>
            <a:r>
              <a:rPr lang="en-US" altLang="en-US" dirty="0">
                <a:latin typeface="Arial" panose="020B0604020202020204" pitchFamily="34" charset="0"/>
              </a:rPr>
              <a:t>, even when the underlying map is outdated.</a:t>
            </a:r>
          </a:p>
        </p:txBody>
      </p:sp>
    </p:spTree>
    <p:extLst>
      <p:ext uri="{BB962C8B-B14F-4D97-AF65-F5344CB8AC3E}">
        <p14:creationId xmlns:p14="http://schemas.microsoft.com/office/powerpoint/2010/main" val="3329141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Enhancement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Speed profile before/after stops</a:t>
            </a:r>
          </a:p>
          <a:p>
            <a:pPr lvl="1"/>
            <a:r>
              <a:rPr sz="1600" dirty="0"/>
              <a:t>Hourly/weekday duration patterns</a:t>
            </a:r>
          </a:p>
          <a:p>
            <a:pPr lvl="1"/>
            <a:r>
              <a:rPr sz="1600" dirty="0"/>
              <a:t>Odometer-based stop spacing</a:t>
            </a:r>
            <a:endParaRPr lang="en-IN" sz="1600" dirty="0"/>
          </a:p>
          <a:p>
            <a:pPr lvl="1"/>
            <a:r>
              <a:rPr lang="en-IN" sz="1600" dirty="0"/>
              <a:t> Weather affected stopping</a:t>
            </a:r>
          </a:p>
          <a:p>
            <a:pPr lvl="1"/>
            <a:r>
              <a:rPr lang="en-IN" sz="1600" dirty="0"/>
              <a:t>Feature engineering</a:t>
            </a:r>
          </a:p>
          <a:p>
            <a:pPr lvl="1"/>
            <a:r>
              <a:rPr lang="en-IN" sz="1600" dirty="0"/>
              <a:t> Door open/close/passenger count</a:t>
            </a:r>
          </a:p>
          <a:p>
            <a:pPr lvl="1"/>
            <a:r>
              <a:rPr lang="en-IN" sz="1600" dirty="0"/>
              <a:t>Stop level classification using Machine learning</a:t>
            </a:r>
          </a:p>
          <a:p>
            <a:pPr lvl="1"/>
            <a:endParaRPr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247</TotalTime>
  <Words>1108</Words>
  <Application>Microsoft Office PowerPoint</Application>
  <PresentationFormat>Widescreen</PresentationFormat>
  <Paragraphs>144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Arial Unicode MS</vt:lpstr>
      <vt:lpstr>Office Theme</vt:lpstr>
      <vt:lpstr>Bus stop Prediction Analysis</vt:lpstr>
      <vt:lpstr>Problem Statement</vt:lpstr>
      <vt:lpstr>Objective</vt:lpstr>
      <vt:lpstr>Approach</vt:lpstr>
      <vt:lpstr>Data Loading and Preprocessing</vt:lpstr>
      <vt:lpstr>Exploratory Analysis-Duration</vt:lpstr>
      <vt:lpstr>Exploratory Analysis-Duration</vt:lpstr>
      <vt:lpstr>Visualization</vt:lpstr>
      <vt:lpstr>Trip Segmentation</vt:lpstr>
      <vt:lpstr>DBSCAN Methodology</vt:lpstr>
      <vt:lpstr>DBSCAN Methodology</vt:lpstr>
      <vt:lpstr>DBSCAN Methodology – Cluster Visualization</vt:lpstr>
      <vt:lpstr>Cluster Statistics (1)</vt:lpstr>
      <vt:lpstr>Cluster Statistics (2)</vt:lpstr>
      <vt:lpstr>Solution Summary</vt:lpstr>
      <vt:lpstr>Business Use Case</vt:lpstr>
      <vt:lpstr>Enhancement Opportunities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Kausik Jha</dc:creator>
  <cp:keywords/>
  <dc:description>generated using python-pptx</dc:description>
  <cp:lastModifiedBy>Kausik Jha</cp:lastModifiedBy>
  <cp:revision>23</cp:revision>
  <dcterms:created xsi:type="dcterms:W3CDTF">2013-01-27T09:14:16Z</dcterms:created>
  <dcterms:modified xsi:type="dcterms:W3CDTF">2025-12-12T06:40:25Z</dcterms:modified>
  <cp:category/>
</cp:coreProperties>
</file>